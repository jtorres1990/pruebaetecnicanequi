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B822C-CD2D-41BD-8157-A2EE957AF4CB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1FB9E3-8E4D-4E38-9FE7-A6D0A08CABB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4804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Objetivo: presentar una arquitectura que prioriza cero sobreventa, escalabilidad bajo demanda concentrada y recuperación ante fallos.</a:t>
            </a:r>
          </a:p>
          <a:p>
            <a:r>
              <a:rPr lang="es-ES"/>
              <a:t>Fuente principal: architecture/ticketing.architecture.v2.md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1389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Presentar los números como condiciones de diseño, no como capacidad productiva garantizada. Los objetivos NFR se deben validar con pruebas de carga.</a:t>
            </a:r>
          </a:p>
          <a:p>
            <a:r>
              <a:rPr lang="es-ES"/>
              <a:t>Fuentes: architecture/ticketing.architecture.v2.md §2 y §14; FG-001 y FG-002.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58382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 presentar la tecnología primero. Explicar que DynamoDB, SQS y las transacciones aparecen como respuestas a drivers concretos.</a:t>
            </a:r>
          </a:p>
          <a:p>
            <a:r>
              <a:rPr lang="es-ES"/>
              <a:t>Fuente: architecture/ticketing.architecture.v2.md §2.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95784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Delimitar responsabilidades: el sistema administra eventos, disponibilidad, compras y órdenes. Cognito y el proveedor de pagos permanecen externos.</a:t>
            </a:r>
          </a:p>
          <a:p>
            <a:r>
              <a:rPr lang="es-ES"/>
              <a:t>Fuente: visualizations/ticketing-architecture-blueprint.drawio, página 01.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1438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Explicar la separación entre API síncrona y worker asíncrono. Comparten dominio y modelo de datos, pero escalan de forma independiente.</a:t>
            </a:r>
          </a:p>
          <a:p>
            <a:r>
              <a:rPr lang="es-ES"/>
              <a:t>Fuente: architecture/ticketing.architecture.v2.md §4.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252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El rol API valida contrato e identidad, ejecuta casos de uso y accede a </a:t>
            </a:r>
            <a:r>
              <a:rPr lang="es-ES" dirty="0" err="1"/>
              <a:t>DynamoDB</a:t>
            </a:r>
            <a:r>
              <a:rPr lang="es-ES" dirty="0"/>
              <a:t>/SQS mediante puertos. Las reglas de negocio no dependen de AWS.</a:t>
            </a:r>
          </a:p>
          <a:p>
            <a:r>
              <a:rPr lang="es-ES" dirty="0"/>
              <a:t>Fuente: architecture/ticketing.architecture.v2.md §5 y ADR-034.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36643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worker contiene consumidores de órdenes y aprovisionamiento, además de procesos periódicos independientes. La separación evita que una tarea lenta bloquee las demás.</a:t>
            </a:r>
          </a:p>
          <a:p>
            <a:r>
              <a:rPr lang="es-ES"/>
              <a:t>Fuente: architecture/ticketing.architecture.v2.md §5; ADR-028 y ADR-029.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1719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Recorrer el happy path: validar, reservar atómicamente, publicar, autorizar pago y confirmar. La API responde sin esperar el pago.</a:t>
            </a:r>
          </a:p>
          <a:p>
            <a:r>
              <a:rPr lang="es-ES"/>
              <a:t>Fuente: architecture/ticketing.architecture.v2.md §7.1.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3477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Order en CREATED actúa como guardián. Confirmación y expiración compiten; solo una transición terminal puede ganar. Una aprobación tardía activa reverso y auditoría.</a:t>
            </a:r>
          </a:p>
          <a:p>
            <a:r>
              <a:rPr lang="es-ES"/>
              <a:t>Fuente: ADR-008 y ADR-025.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3931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GSI2 contiene solo tickets AVAILABLE. Los atributos GSI2PK/GSI2SK se eliminan al reservar y se restauran al liberar. El conteo recorre los shards y es informativo; la compra revalida en la tabla base.</a:t>
            </a:r>
          </a:p>
          <a:p>
            <a:r>
              <a:rPr lang="es-CO"/>
              <a:t>Fuentes: architecture/ticketing.data-model.v2.md; ADR-022; ADR-040; https://docs.aws.amazon.com/amazondynamodb/latest/developerguide/GSI.html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22942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publicación directa tiene presupuesto acotado. GSI4 permite detectar órdenes creadas no encoladas, republicarlas y tolerar duplicados mediante idempotencia. La expiración constituye la última garantía.</a:t>
            </a:r>
          </a:p>
          <a:p>
            <a:r>
              <a:rPr lang="es-ES"/>
              <a:t>Fuente: ADR-026.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1840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entorno local conserva la forma lógica: misma imagen en dos roles, misma tabla e índices, cuatro colas y Payment Mock independiente. DynamoDB Local no reproduce el particionado físico real.</a:t>
            </a:r>
          </a:p>
          <a:p>
            <a:r>
              <a:rPr lang="es-ES"/>
              <a:t>Fuentes: ADR-036 y architecture/ticketing.aws-target.v2.md §10.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26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/>
              <a:t>En AWS, API y worker corren en ECS Fargate dentro de subredes privadas. ALB y WAF protegen el borde; DynamoDB y SQS son servicios administrados; los roles IAM separan permisos.</a:t>
            </a:r>
          </a:p>
          <a:p>
            <a:r>
              <a:rPr lang="es-CO"/>
              <a:t>Fuente: architecture/ticketing.aws-target.v2.md §1–§6.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6980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Mensaje clave: evitamos una arquitectura local simplificada que obligue a rediseñar al migrar. Se mantienen contratos, estados, particiones, índices, mensajes y políticas de resiliencia.</a:t>
            </a:r>
          </a:p>
          <a:p>
            <a:r>
              <a:rPr lang="es-ES"/>
              <a:t>Fuente: architecture/ticketing.aws-target.v2.md §10.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20257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Defender los trade-offs como decisiones explícitas. El diseño no elimina costo ni complejidad; los coloca donde protegen los invariantes de negocio.</a:t>
            </a:r>
          </a:p>
          <a:p>
            <a:r>
              <a:rPr lang="es-ES"/>
              <a:t>Fuentes: ADR-022 a ADR-040; architecture/ticketing.aws-target.v2.md §8.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699650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Cierre sugerido: la propuesta separa rendimiento de consistencia. Los índices y colas permiten escalar; las transacciones e idempotencia protegen el negocio; los mecanismos de recuperación evitan estados huérfanos.</a:t>
            </a:r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1FB9E3-8E4D-4E38-9FE7-A6D0A08CABBC}" type="slidenum">
              <a:rPr lang="es-CO" smtClean="0"/>
              <a:t>16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1646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8B6196-08A2-473D-5C56-75E58EB78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381023-A6E7-592E-91C1-A6A179275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C3E6B5-2176-9E2A-3CDE-5F6F98FA6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E7FB02-61CF-57FB-65AB-B5FA37F72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906DD1-390B-8F24-6D89-ADA5114D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074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0D194D-181B-0D75-9761-7B1171030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26FE99-61A7-B5A2-3AED-0A65DF10E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E0E5DC-D7BB-0ED5-FEBF-DE795B5C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6534CB-FB78-A0E4-490E-9DB5964D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EB096E-E078-D902-6380-228ECE58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5500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0AAC8E-AEE8-1ADC-B07D-88507080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EA710A-B576-B14B-FAF4-DE91077E1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12ABDA-5D4C-D1FF-621E-C665E857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0B0F64-B876-663B-58C0-53DC5CB2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4FCDE-294B-1253-B1D4-4862A574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260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666FA6-36D9-5C8C-4F34-89B1A207D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84B21F-3E3D-525C-61D1-1E49D4727E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3BC04E-64C2-F236-0419-DA5B93348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6E6DC1-AD93-3085-25C4-0A9AA0F23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2FACD7-26B7-20C2-DA2D-66B768A3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D6F126-47D6-6CB4-6A2D-DCD1D66D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42567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19BBF-9744-42A3-447B-8CF6319C4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4AF7BC-2680-AA2F-A353-77B9C1C09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11A795-0942-0CBC-178A-ADAF97052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296892A-E0EE-D6E6-EFD2-3CDA19DEA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B8F58F-D34A-7465-2AE1-C5E0034C8F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08E232C-D3BD-A40C-7B98-F0F02C01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F275E3C-0EEC-681F-74FB-0179BE3E6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8EBC09A-2181-A838-7971-56467DC9C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91078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FD94D-4F77-1B3B-B1BC-45165AE2B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74DDA4-8C18-EE82-923A-65C74F69A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BE7215B-2BE5-DD3F-3A1F-8447B46E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5FB2CE-19AB-D40A-82A1-FAC3E9B9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8760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A66826-7F6D-330E-E5C2-C4282EBE3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6D8719-5ABF-91E7-77EA-A346BCA9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5F8923-EB35-4CEF-D3B8-CDF82203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41550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27DBC-01F9-58A8-BB1E-ABB50FA53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8ABEC1-4472-96CB-FBBA-00F2A02A1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2FA67E-B5ED-ED96-0B59-1363B031E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F6150-5106-261D-30D7-418DF8075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3CD5B2-20BC-8EEC-72AD-DF52AEDB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576C616-E3EB-FF01-2A2C-2262C5E3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008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3A4E3C-874E-F4EC-E2C7-1FBD8E0A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95E5691-F462-F4DA-0533-509619FEE4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591FF2-0221-9067-699C-0F026C72F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79B19A-6E6C-0B0A-4149-FCFDDD83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69F8D2F-3564-3EDD-2CE5-76DF26969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E17DCC-B8BE-A7A4-C0CE-681D37F90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245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ABE22-9442-650E-620F-FE6496C0E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10477C-3470-A259-C44F-E7962271F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32FFC-4451-25EE-71F3-B18ABE9BC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BA859-E75E-DDB2-6B32-AFAE76D1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6409EB-9DDF-6488-DA28-471FB7E84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68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118AC4-E049-3270-BE1D-BE7F12AFC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0D659B5-6BF4-4C48-A97F-E38A4D366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FFE1C-197F-8E5A-A50F-B0F385052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A92BBB-1D99-EBAD-9063-6D21A4C2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C22798-F5CC-A954-BC7D-630FFDB34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501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C3C88F7-AB58-7404-3862-309FCBF0A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6096EA-38B4-CB8D-ACD2-94D4A232B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43ECA0-B404-35EE-854E-F4A8B511C1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ECF7C-744D-49D5-85CD-14083E6D5456}" type="datetimeFigureOut">
              <a:rPr lang="es-CO" smtClean="0"/>
              <a:t>4/10/2026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C4CB69-BDBB-8319-B28D-5ECB43E54D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76C7C0-3EA7-E9E7-1474-319DCED73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6031B4-62E3-4C07-B56E-9E6A5719962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143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A42F726-2381-DC77-C669-27440DB3589E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A2BF5F-D837-0C62-DAD8-77399E86D7F2}"/>
              </a:ext>
            </a:extLst>
          </p:cNvPr>
          <p:cNvSpPr txBox="1"/>
          <p:nvPr/>
        </p:nvSpPr>
        <p:spPr>
          <a:xfrm>
            <a:off x="889000" y="1371600"/>
            <a:ext cx="10033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3800" b="1">
                <a:solidFill>
                  <a:srgbClr val="FFFFFF"/>
                </a:solidFill>
                <a:latin typeface="Aptos" panose="020B0004020202020204" pitchFamily="34" charset="0"/>
              </a:rPr>
              <a:t>Arquitectura propuesta para Ticketing Event Processing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AD67615-EFD4-DD88-3F1A-94DD27A9D14F}"/>
              </a:ext>
            </a:extLst>
          </p:cNvPr>
          <p:cNvSpPr txBox="1"/>
          <p:nvPr/>
        </p:nvSpPr>
        <p:spPr>
          <a:xfrm>
            <a:off x="914400" y="31115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200">
                <a:solidFill>
                  <a:srgbClr val="D2E2ED"/>
                </a:solidFill>
                <a:latin typeface="Aptos" panose="020B0004020202020204" pitchFamily="34" charset="0"/>
              </a:rPr>
              <a:t>Drivers, decisiones, trade-offs y despliegue local/AWS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E7462EB-9991-2705-0352-44013342F680}"/>
              </a:ext>
            </a:extLst>
          </p:cNvPr>
          <p:cNvSpPr/>
          <p:nvPr/>
        </p:nvSpPr>
        <p:spPr>
          <a:xfrm>
            <a:off x="914400" y="4203700"/>
            <a:ext cx="3175000" cy="508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AC7201-9DBA-FC5E-94D9-59C99B6AC936}"/>
              </a:ext>
            </a:extLst>
          </p:cNvPr>
          <p:cNvSpPr txBox="1"/>
          <p:nvPr/>
        </p:nvSpPr>
        <p:spPr>
          <a:xfrm>
            <a:off x="9144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700">
                <a:solidFill>
                  <a:srgbClr val="AEC9DB"/>
                </a:solidFill>
                <a:latin typeface="Aptos" panose="020B0004020202020204" pitchFamily="34" charset="0"/>
              </a:rPr>
              <a:t>Prueba técnica · Diseño de referencia</a:t>
            </a:r>
            <a:endParaRPr lang="es-CO" sz="1700">
              <a:solidFill>
                <a:srgbClr val="AEC9DB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772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5A4D742-9DE3-E354-7866-17AECFBB0F74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12324A"/>
                </a:solidFill>
                <a:latin typeface="Aptos" panose="020B0004020202020204" pitchFamily="34" charset="0"/>
              </a:rPr>
              <a:t>Reto y alcance de la solución</a:t>
            </a:r>
            <a:endParaRPr lang="es-CO" sz="3000" b="1">
              <a:solidFill>
                <a:srgbClr val="12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387751C-ADB3-A20E-2D07-498B49773BAC}"/>
              </a:ext>
            </a:extLst>
          </p:cNvPr>
          <p:cNvSpPr txBox="1"/>
          <p:nvPr/>
        </p:nvSpPr>
        <p:spPr>
          <a:xfrm>
            <a:off x="609600" y="990600"/>
            <a:ext cx="10972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486579"/>
                </a:solidFill>
                <a:latin typeface="Aptos" panose="020B0004020202020204" pitchFamily="34" charset="0"/>
              </a:rPr>
              <a:t>El diseño se concentra en inventario, reservas, órdenes y procesamiento de pagos</a:t>
            </a:r>
            <a:endParaRPr lang="es-CO" sz="1500">
              <a:solidFill>
                <a:srgbClr val="486579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91840F-A28A-8F2A-1145-2146B23633DF}"/>
              </a:ext>
            </a:extLst>
          </p:cNvPr>
          <p:cNvSpPr/>
          <p:nvPr/>
        </p:nvSpPr>
        <p:spPr>
          <a:xfrm>
            <a:off x="609600" y="1422400"/>
            <a:ext cx="10972800" cy="381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C5C9770-811A-599D-AE4F-5E45922A8EC3}"/>
              </a:ext>
            </a:extLst>
          </p:cNvPr>
          <p:cNvSpPr txBox="1"/>
          <p:nvPr/>
        </p:nvSpPr>
        <p:spPr>
          <a:xfrm>
            <a:off x="698500" y="18415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3400" b="1">
                <a:solidFill>
                  <a:srgbClr val="E00070"/>
                </a:solidFill>
                <a:latin typeface="Aptos" panose="020B0004020202020204" pitchFamily="34" charset="0"/>
              </a:rPr>
              <a:t>50.000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0C9D942-2622-5959-2360-294CF0B8D375}"/>
              </a:ext>
            </a:extLst>
          </p:cNvPr>
          <p:cNvSpPr txBox="1"/>
          <p:nvPr/>
        </p:nvSpPr>
        <p:spPr>
          <a:xfrm>
            <a:off x="698500" y="26416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1600">
                <a:solidFill>
                  <a:srgbClr val="192E3D"/>
                </a:solidFill>
                <a:latin typeface="Aptos" panose="020B0004020202020204" pitchFamily="34" charset="0"/>
              </a:rPr>
              <a:t>tickets por evento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CAE1895-F232-8C57-5B3F-462286D1B36E}"/>
              </a:ext>
            </a:extLst>
          </p:cNvPr>
          <p:cNvSpPr txBox="1"/>
          <p:nvPr/>
        </p:nvSpPr>
        <p:spPr>
          <a:xfrm>
            <a:off x="3492500" y="18415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3400" b="1">
                <a:solidFill>
                  <a:srgbClr val="54245D"/>
                </a:solidFill>
                <a:latin typeface="Aptos" panose="020B0004020202020204" pitchFamily="34" charset="0"/>
              </a:rPr>
              <a:t>&gt;1.000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5C99EE7-A305-5A6D-DAA4-D447B08A069C}"/>
              </a:ext>
            </a:extLst>
          </p:cNvPr>
          <p:cNvSpPr txBox="1"/>
          <p:nvPr/>
        </p:nvSpPr>
        <p:spPr>
          <a:xfrm>
            <a:off x="3492500" y="26416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1600">
                <a:solidFill>
                  <a:srgbClr val="192E3D"/>
                </a:solidFill>
                <a:latin typeface="Aptos" panose="020B0004020202020204" pitchFamily="34" charset="0"/>
              </a:rPr>
              <a:t>usuarios concurrentes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51226B9-7F07-4EF7-A660-28484F3D023F}"/>
              </a:ext>
            </a:extLst>
          </p:cNvPr>
          <p:cNvSpPr txBox="1"/>
          <p:nvPr/>
        </p:nvSpPr>
        <p:spPr>
          <a:xfrm>
            <a:off x="6477000" y="18415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3400" b="1">
                <a:solidFill>
                  <a:srgbClr val="E77E22"/>
                </a:solidFill>
                <a:latin typeface="Aptos" panose="020B0004020202020204" pitchFamily="34" charset="0"/>
              </a:rPr>
              <a:t>1–10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A1A06D4-8914-0F80-E9E5-CC1708F73CE8}"/>
              </a:ext>
            </a:extLst>
          </p:cNvPr>
          <p:cNvSpPr txBox="1"/>
          <p:nvPr/>
        </p:nvSpPr>
        <p:spPr>
          <a:xfrm>
            <a:off x="6477000" y="26416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1600">
                <a:solidFill>
                  <a:srgbClr val="192E3D"/>
                </a:solidFill>
                <a:latin typeface="Aptos" panose="020B0004020202020204" pitchFamily="34" charset="0"/>
              </a:rPr>
              <a:t>tickets por orden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1FA48B7C-69EB-F8F1-6BDF-E3D31F204059}"/>
              </a:ext>
            </a:extLst>
          </p:cNvPr>
          <p:cNvSpPr txBox="1"/>
          <p:nvPr/>
        </p:nvSpPr>
        <p:spPr>
          <a:xfrm>
            <a:off x="9207500" y="1841500"/>
            <a:ext cx="2286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3400" b="1">
                <a:solidFill>
                  <a:srgbClr val="267A4F"/>
                </a:solidFill>
                <a:latin typeface="Aptos" panose="020B0004020202020204" pitchFamily="34" charset="0"/>
              </a:rPr>
              <a:t>10 min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62649C-5B6E-03C6-4627-B24681F959DD}"/>
              </a:ext>
            </a:extLst>
          </p:cNvPr>
          <p:cNvSpPr txBox="1"/>
          <p:nvPr/>
        </p:nvSpPr>
        <p:spPr>
          <a:xfrm>
            <a:off x="9207500" y="2641600"/>
            <a:ext cx="228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CO" sz="1600">
                <a:solidFill>
                  <a:srgbClr val="192E3D"/>
                </a:solidFill>
                <a:latin typeface="Aptos" panose="020B0004020202020204" pitchFamily="34" charset="0"/>
              </a:rPr>
              <a:t>vigencia de reserva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36B2C83-6422-4247-A5B8-5700AA7014D9}"/>
              </a:ext>
            </a:extLst>
          </p:cNvPr>
          <p:cNvSpPr txBox="1"/>
          <p:nvPr/>
        </p:nvSpPr>
        <p:spPr>
          <a:xfrm>
            <a:off x="736600" y="3746500"/>
            <a:ext cx="419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100" b="1">
                <a:solidFill>
                  <a:srgbClr val="12324A"/>
                </a:solidFill>
                <a:latin typeface="Aptos" panose="020B0004020202020204" pitchFamily="34" charset="0"/>
              </a:rPr>
              <a:t>Responsabilidad del backend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7A6655-B61C-F968-035B-5C88C5B5F59F}"/>
              </a:ext>
            </a:extLst>
          </p:cNvPr>
          <p:cNvSpPr txBox="1"/>
          <p:nvPr/>
        </p:nvSpPr>
        <p:spPr>
          <a:xfrm>
            <a:off x="736600" y="4292600"/>
            <a:ext cx="4572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Crear y aprovisionar eventos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Consultar disponibilidad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Reservar sin sobreventa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Procesar, expirar y consultar órdenes</a:t>
            </a:r>
            <a:endParaRPr lang="es-CO">
              <a:solidFill>
                <a:srgbClr val="192E3D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8D0DA9F-0FFF-1599-DBDB-6DECA69986B2}"/>
              </a:ext>
            </a:extLst>
          </p:cNvPr>
          <p:cNvSpPr txBox="1"/>
          <p:nvPr/>
        </p:nvSpPr>
        <p:spPr>
          <a:xfrm>
            <a:off x="6413500" y="3746500"/>
            <a:ext cx="4191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100" b="1">
                <a:solidFill>
                  <a:srgbClr val="12324A"/>
                </a:solidFill>
                <a:latin typeface="Aptos" panose="020B0004020202020204" pitchFamily="34" charset="0"/>
              </a:rPr>
              <a:t>Fuera del alcance directo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F997DB5-92C8-4C7A-3D5A-4C5D53280082}"/>
              </a:ext>
            </a:extLst>
          </p:cNvPr>
          <p:cNvSpPr txBox="1"/>
          <p:nvPr/>
        </p:nvSpPr>
        <p:spPr>
          <a:xfrm>
            <a:off x="6413500" y="4292600"/>
            <a:ext cx="4953000" cy="14157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Autenticación de credenciales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Liquidación financiera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Experiencia de usuario</a:t>
            </a:r>
          </a:p>
          <a:p>
            <a:pPr marL="254000" indent="-254000">
              <a:spcAft>
                <a:spcPts val="800"/>
              </a:spcAft>
              <a:buFont typeface="+mj-lt"/>
              <a:buAutoNum type="arabicPeriod"/>
            </a:pPr>
            <a:r>
              <a:rPr lang="es-ES">
                <a:solidFill>
                  <a:srgbClr val="192E3D"/>
                </a:solidFill>
                <a:latin typeface="Aptos" panose="020B0004020202020204" pitchFamily="34" charset="0"/>
              </a:rPr>
              <a:t>Operación productiva del proveedor de pagos</a:t>
            </a:r>
            <a:endParaRPr lang="es-CO">
              <a:solidFill>
                <a:srgbClr val="192E3D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9271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367EC71-4191-3E77-CA12-7609F166D9AE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12324A"/>
                </a:solidFill>
                <a:latin typeface="Aptos" panose="020B0004020202020204" pitchFamily="34" charset="0"/>
              </a:rPr>
              <a:t>Drivers que gobiernan el diseño</a:t>
            </a:r>
            <a:endParaRPr lang="es-CO" sz="3000" b="1">
              <a:solidFill>
                <a:srgbClr val="12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750503C-8739-2735-0F40-B3AE34BEBCE8}"/>
              </a:ext>
            </a:extLst>
          </p:cNvPr>
          <p:cNvSpPr txBox="1"/>
          <p:nvPr/>
        </p:nvSpPr>
        <p:spPr>
          <a:xfrm>
            <a:off x="609600" y="990600"/>
            <a:ext cx="10972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486579"/>
                </a:solidFill>
                <a:latin typeface="Aptos" panose="020B0004020202020204" pitchFamily="34" charset="0"/>
              </a:rPr>
              <a:t>Cada decisión importante responde a una condición verificable</a:t>
            </a:r>
            <a:endParaRPr lang="es-CO" sz="1500">
              <a:solidFill>
                <a:srgbClr val="486579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94E778D-0EC5-8312-00D3-014488330773}"/>
              </a:ext>
            </a:extLst>
          </p:cNvPr>
          <p:cNvSpPr/>
          <p:nvPr/>
        </p:nvSpPr>
        <p:spPr>
          <a:xfrm>
            <a:off x="609600" y="1422400"/>
            <a:ext cx="10972800" cy="381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DDBCE8BA-D495-F51E-3975-6D3BD1D4A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617771"/>
              </p:ext>
            </p:extLst>
          </p:nvPr>
        </p:nvGraphicFramePr>
        <p:xfrm>
          <a:off x="609600" y="1714500"/>
          <a:ext cx="109728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58867364"/>
                    </a:ext>
                  </a:extLst>
                </a:gridCol>
                <a:gridCol w="6972300">
                  <a:extLst>
                    <a:ext uri="{9D8B030D-6E8A-4147-A177-3AD203B41FA5}">
                      <a16:colId xmlns:a16="http://schemas.microsoft.com/office/drawing/2014/main" val="2501510049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7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Driver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7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Respuesta de arquitectura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82071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Cero sobreventa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Transacción condicional multi-ticket sobre la tabla base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417660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Evento popular sin hot partition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PK por ticket y sharding calculado en los índices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6535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Respuesta síncrona breve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Reserva y publicación acotadas; pago asíncrono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26123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ES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Entrega al menos una vez</a:t>
                      </a:r>
                      <a:endParaRPr lang="es-CO" sz="1600" b="1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Idempotencia, leases y consumidores repetibles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069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Nada queda colgado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Expiración, republicación, reversos y limpieza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1980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Seguridad y auditabilidad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Roles, propiedad, bloqueo activo y auditoría transaccional</a:t>
                      </a:r>
                      <a:endParaRPr lang="es-CO" sz="16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8789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74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D220348-02B6-1773-D141-227CC9EEDDA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6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4EA3DD-9C04-1893-95F3-960E1D1403B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7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6D685B-CF35-15BB-2663-094B0187DB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046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180916-EE64-93FB-A7FA-F84048C901C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7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E4032EA-6861-CE7E-780A-356FA0A0F8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64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1A7C92-39C7-5FE8-F880-8151671B184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21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A6536F2-2FE4-990B-C48D-B4FE072AA7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683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03BB6F8-DDC1-86F8-7577-2C7A4D067B2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168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E200A7-EB29-D53D-4E49-4E883AA026C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96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C794B26-185F-F33E-2FB6-0AFFB86973A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398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28996E5-6AE5-6164-BCDE-9A8CF722EA64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000" b="1">
                <a:solidFill>
                  <a:srgbClr val="12324A"/>
                </a:solidFill>
                <a:latin typeface="Aptos" panose="020B0004020202020204" pitchFamily="34" charset="0"/>
              </a:rPr>
              <a:t>Local y AWS conservan el mismo diseño lógico</a:t>
            </a:r>
            <a:endParaRPr lang="es-CO" sz="3000" b="1">
              <a:solidFill>
                <a:srgbClr val="12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9289CCA-08E6-062E-B3ED-397131D606A3}"/>
              </a:ext>
            </a:extLst>
          </p:cNvPr>
          <p:cNvSpPr txBox="1"/>
          <p:nvPr/>
        </p:nvSpPr>
        <p:spPr>
          <a:xfrm>
            <a:off x="609600" y="990600"/>
            <a:ext cx="10972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486579"/>
                </a:solidFill>
                <a:latin typeface="Aptos" panose="020B0004020202020204" pitchFamily="34" charset="0"/>
              </a:rPr>
              <a:t>Cambian los servicios operados y los controles de plataforma, no el modelo de negocio</a:t>
            </a:r>
            <a:endParaRPr lang="es-CO" sz="1500">
              <a:solidFill>
                <a:srgbClr val="486579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8F0B433-E0D2-A2F9-F46B-DDC1C9F2E926}"/>
              </a:ext>
            </a:extLst>
          </p:cNvPr>
          <p:cNvSpPr/>
          <p:nvPr/>
        </p:nvSpPr>
        <p:spPr>
          <a:xfrm>
            <a:off x="609600" y="1422400"/>
            <a:ext cx="10972800" cy="381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A056B9AE-7FFB-6793-93A9-414E3FF7C1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417848"/>
              </p:ext>
            </p:extLst>
          </p:nvPr>
        </p:nvGraphicFramePr>
        <p:xfrm>
          <a:off x="533400" y="1676400"/>
          <a:ext cx="11125200" cy="444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3013779052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405691726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1655359378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Aspecto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Local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AWS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672036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Cómputo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Docker Compose, una instancia por rol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ECS Fargate, escalado independiente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03630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Persistencia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DynamoDB Local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DynamoDB on-demand, PITR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5943987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Mensajería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LocalStack / alternativa compatible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SQS Standard y DLQ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7560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Identidad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Emisor OIDC local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Amazon Cognito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71465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Borde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HTTP y limitador en memoria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HTTPS, ALB, WAF y control de bots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033958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Operación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Logs y métricas locales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CloudWatch, alarmas, secretos e IAM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419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545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3E09B6D-1CA5-BCD7-08DE-9FD9EAE92D20}"/>
              </a:ext>
            </a:extLst>
          </p:cNvPr>
          <p:cNvSpPr txBox="1"/>
          <p:nvPr/>
        </p:nvSpPr>
        <p:spPr>
          <a:xfrm>
            <a:off x="609600" y="355600"/>
            <a:ext cx="10972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3000" b="1">
                <a:solidFill>
                  <a:srgbClr val="12324A"/>
                </a:solidFill>
                <a:latin typeface="Aptos" panose="020B0004020202020204" pitchFamily="34" charset="0"/>
              </a:rPr>
              <a:t>Decisiones y trade-offs aceptados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B95E5A3-0DB8-B757-3E50-9E883B5570B7}"/>
              </a:ext>
            </a:extLst>
          </p:cNvPr>
          <p:cNvSpPr txBox="1"/>
          <p:nvPr/>
        </p:nvSpPr>
        <p:spPr>
          <a:xfrm>
            <a:off x="609600" y="990600"/>
            <a:ext cx="109728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500">
                <a:solidFill>
                  <a:srgbClr val="486579"/>
                </a:solidFill>
                <a:latin typeface="Aptos" panose="020B0004020202020204" pitchFamily="34" charset="0"/>
              </a:rPr>
              <a:t>La propuesta favorece corrección y recuperación, con complejidad operativa controlada</a:t>
            </a:r>
            <a:endParaRPr lang="es-CO" sz="1500">
              <a:solidFill>
                <a:srgbClr val="486579"/>
              </a:solidFill>
              <a:latin typeface="Aptos" panose="020B000402020202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A9D250E-F370-960A-8D5E-FE75F40FE0E7}"/>
              </a:ext>
            </a:extLst>
          </p:cNvPr>
          <p:cNvSpPr/>
          <p:nvPr/>
        </p:nvSpPr>
        <p:spPr>
          <a:xfrm>
            <a:off x="609600" y="1422400"/>
            <a:ext cx="10972800" cy="38100"/>
          </a:xfrm>
          <a:prstGeom prst="rect">
            <a:avLst/>
          </a:prstGeom>
          <a:solidFill>
            <a:srgbClr val="E0007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9BB5177D-0AF8-A5ED-CD67-9696C9B3CE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720073"/>
              </p:ext>
            </p:extLst>
          </p:nvPr>
        </p:nvGraphicFramePr>
        <p:xfrm>
          <a:off x="444500" y="1676400"/>
          <a:ext cx="11303000" cy="45085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171222146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098814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85564178"/>
                    </a:ext>
                  </a:extLst>
                </a:gridCol>
              </a:tblGrid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Decisión</a:t>
                      </a:r>
                    </a:p>
                  </a:txBody>
                  <a:tcPr marL="101600" marR="101600" marT="63500" marB="50800" anchor="ctr">
                    <a:solidFill>
                      <a:srgbClr val="1232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Beneficio</a:t>
                      </a:r>
                    </a:p>
                  </a:txBody>
                  <a:tcPr marL="101600" marR="101600" marT="63500" marB="50800" anchor="ctr">
                    <a:solidFill>
                      <a:srgbClr val="267A4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600" b="1">
                          <a:solidFill>
                            <a:srgbClr val="FFFFFF"/>
                          </a:solidFill>
                          <a:latin typeface="Aptos" panose="020B0004020202020204" pitchFamily="34" charset="0"/>
                        </a:rPr>
                        <a:t>Costo o riesgo</a:t>
                      </a:r>
                    </a:p>
                  </a:txBody>
                  <a:tcPr marL="101600" marR="101600" marT="63500" marB="50800" anchor="ctr">
                    <a:solidFill>
                      <a:srgbClr val="5424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094638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Transacciones por transición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Cero sobreventa y todo o nada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Mayor costo y posibles conflictos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781171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PK por ticket y GSI con shards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Distribución bajo demanda concentrada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Fan-out para listar y contar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494463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SQS Standard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Absorbe picos y desacopla el pago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Duplicados y orden no garantizado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76093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Índices sparse de trabajo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Workers consultan solo pendientes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O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Amplificación de escritura</a:t>
                      </a:r>
                    </a:p>
                  </a:txBody>
                  <a:tcPr marL="101600" marR="1016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990750"/>
                  </a:ext>
                </a:extLst>
              </a:tr>
              <a:tr h="751417">
                <a:tc>
                  <a:txBody>
                    <a:bodyPr/>
                    <a:lstStyle/>
                    <a:p>
                      <a:pPr algn="l"/>
                      <a:r>
                        <a:rPr lang="es-CO" sz="1500" b="1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Misma imagen, dos roles</a:t>
                      </a: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Menos artefactos y dominio común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500" b="0">
                          <a:solidFill>
                            <a:srgbClr val="192E3D"/>
                          </a:solidFill>
                          <a:latin typeface="Aptos" panose="020B0004020202020204" pitchFamily="34" charset="0"/>
                        </a:rPr>
                        <a:t>Disciplina de configuración y permisos</a:t>
                      </a:r>
                      <a:endParaRPr lang="es-CO" sz="1500" b="0">
                        <a:solidFill>
                          <a:srgbClr val="192E3D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101600" marR="101600" marT="63500" marB="508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403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999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F3672D7-7A32-EF70-8F53-FA90B0654B76}"/>
              </a:ext>
            </a:extLst>
          </p:cNvPr>
          <p:cNvSpPr txBox="1"/>
          <p:nvPr/>
        </p:nvSpPr>
        <p:spPr>
          <a:xfrm>
            <a:off x="762000" y="6096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3200" b="1">
                <a:solidFill>
                  <a:srgbClr val="FFFFFF"/>
                </a:solidFill>
                <a:latin typeface="Aptos" panose="020B0004020202020204" pitchFamily="34" charset="0"/>
              </a:rPr>
              <a:t>Cómo defender la propuesta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180BF28-949A-2929-13DD-ADB7CB07D02F}"/>
              </a:ext>
            </a:extLst>
          </p:cNvPr>
          <p:cNvSpPr txBox="1"/>
          <p:nvPr/>
        </p:nvSpPr>
        <p:spPr>
          <a:xfrm>
            <a:off x="825500" y="1714500"/>
            <a:ext cx="698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300" b="1">
                <a:solidFill>
                  <a:srgbClr val="E0007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9F82577-5FB6-A1B9-FDCB-3878DF62D184}"/>
              </a:ext>
            </a:extLst>
          </p:cNvPr>
          <p:cNvSpPr txBox="1"/>
          <p:nvPr/>
        </p:nvSpPr>
        <p:spPr>
          <a:xfrm>
            <a:off x="1714500" y="168910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100" b="1">
                <a:solidFill>
                  <a:srgbClr val="FFFFFF"/>
                </a:solidFill>
                <a:latin typeface="Aptos" panose="020B0004020202020204" pitchFamily="34" charset="0"/>
              </a:rPr>
              <a:t>La tabla base decide la compra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6787DF-6DC2-71B0-AA86-DE079511697F}"/>
              </a:ext>
            </a:extLst>
          </p:cNvPr>
          <p:cNvSpPr txBox="1"/>
          <p:nvPr/>
        </p:nvSpPr>
        <p:spPr>
          <a:xfrm>
            <a:off x="1714500" y="2108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C4D8E5"/>
                </a:solidFill>
                <a:latin typeface="Aptos" panose="020B0004020202020204" pitchFamily="34" charset="0"/>
              </a:rPr>
              <a:t>Los GSI aceleran consultas, pero la transacción condicional evita la sobreventa.</a:t>
            </a:r>
            <a:endParaRPr lang="es-CO" sz="1600">
              <a:solidFill>
                <a:srgbClr val="C4D8E5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42F3713-C57D-B127-8773-F73E1FB02263}"/>
              </a:ext>
            </a:extLst>
          </p:cNvPr>
          <p:cNvSpPr txBox="1"/>
          <p:nvPr/>
        </p:nvSpPr>
        <p:spPr>
          <a:xfrm>
            <a:off x="825500" y="2857500"/>
            <a:ext cx="698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300" b="1">
                <a:solidFill>
                  <a:srgbClr val="E0007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D7D17D5-0E6F-B60E-6909-E0303CE35146}"/>
              </a:ext>
            </a:extLst>
          </p:cNvPr>
          <p:cNvSpPr txBox="1"/>
          <p:nvPr/>
        </p:nvSpPr>
        <p:spPr>
          <a:xfrm>
            <a:off x="1714500" y="283210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100" b="1">
                <a:solidFill>
                  <a:srgbClr val="FFFFFF"/>
                </a:solidFill>
                <a:latin typeface="Aptos" panose="020B0004020202020204" pitchFamily="34" charset="0"/>
              </a:rPr>
              <a:t>La asincronía no sacrifica consistencia</a:t>
            </a:r>
            <a:endParaRPr lang="es-CO" sz="2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91022A2-6B58-6F67-75BA-2146560B7F51}"/>
              </a:ext>
            </a:extLst>
          </p:cNvPr>
          <p:cNvSpPr txBox="1"/>
          <p:nvPr/>
        </p:nvSpPr>
        <p:spPr>
          <a:xfrm>
            <a:off x="1714500" y="3251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C4D8E5"/>
                </a:solidFill>
                <a:latin typeface="Aptos" panose="020B0004020202020204" pitchFamily="34" charset="0"/>
              </a:rPr>
              <a:t>Cada transición persiste todo o nada y los consumidores toleran reentregas.</a:t>
            </a:r>
            <a:endParaRPr lang="es-CO" sz="1600">
              <a:solidFill>
                <a:srgbClr val="C4D8E5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B0C081-F21B-E78B-7947-D89AD60A4348}"/>
              </a:ext>
            </a:extLst>
          </p:cNvPr>
          <p:cNvSpPr txBox="1"/>
          <p:nvPr/>
        </p:nvSpPr>
        <p:spPr>
          <a:xfrm>
            <a:off x="825500" y="4000500"/>
            <a:ext cx="698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300" b="1">
                <a:solidFill>
                  <a:srgbClr val="E0007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C98996-BEEA-5E79-F926-82624908DD7A}"/>
              </a:ext>
            </a:extLst>
          </p:cNvPr>
          <p:cNvSpPr txBox="1"/>
          <p:nvPr/>
        </p:nvSpPr>
        <p:spPr>
          <a:xfrm>
            <a:off x="1714500" y="397510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100" b="1">
                <a:solidFill>
                  <a:srgbClr val="FFFFFF"/>
                </a:solidFill>
                <a:latin typeface="Aptos" panose="020B0004020202020204" pitchFamily="34" charset="0"/>
              </a:rPr>
              <a:t>Local reproduce la forma del objetivo</a:t>
            </a:r>
            <a:endParaRPr lang="es-CO" sz="2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8174AA-A56D-535C-DAF8-E9122E3CA7E1}"/>
              </a:ext>
            </a:extLst>
          </p:cNvPr>
          <p:cNvSpPr txBox="1"/>
          <p:nvPr/>
        </p:nvSpPr>
        <p:spPr>
          <a:xfrm>
            <a:off x="1714500" y="4394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C4D8E5"/>
                </a:solidFill>
                <a:latin typeface="Aptos" panose="020B0004020202020204" pitchFamily="34" charset="0"/>
              </a:rPr>
              <a:t>Los contratos y el modelo no cambian al sustituir emuladores por servicios AWS.</a:t>
            </a:r>
            <a:endParaRPr lang="es-CO" sz="1600">
              <a:solidFill>
                <a:srgbClr val="C4D8E5"/>
              </a:solidFill>
              <a:latin typeface="Aptos" panose="020B0004020202020204" pitchFamily="34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E1544DF-D913-3EC7-221D-33B4FEC0A99B}"/>
              </a:ext>
            </a:extLst>
          </p:cNvPr>
          <p:cNvSpPr txBox="1"/>
          <p:nvPr/>
        </p:nvSpPr>
        <p:spPr>
          <a:xfrm>
            <a:off x="825500" y="5143500"/>
            <a:ext cx="6985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CO" sz="2300" b="1">
                <a:solidFill>
                  <a:srgbClr val="E0007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34A403-6B0A-76AC-4C1B-2F10206AF43A}"/>
              </a:ext>
            </a:extLst>
          </p:cNvPr>
          <p:cNvSpPr txBox="1"/>
          <p:nvPr/>
        </p:nvSpPr>
        <p:spPr>
          <a:xfrm>
            <a:off x="1714500" y="5118100"/>
            <a:ext cx="965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100" b="1">
                <a:solidFill>
                  <a:srgbClr val="FFFFFF"/>
                </a:solidFill>
                <a:latin typeface="Aptos" panose="020B0004020202020204" pitchFamily="34" charset="0"/>
              </a:rPr>
              <a:t>Cada costo tiene una mitigación</a:t>
            </a:r>
            <a:endParaRPr lang="es-CO" sz="2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5B03ECC-A94C-6340-60E5-016246684B20}"/>
              </a:ext>
            </a:extLst>
          </p:cNvPr>
          <p:cNvSpPr txBox="1"/>
          <p:nvPr/>
        </p:nvSpPr>
        <p:spPr>
          <a:xfrm>
            <a:off x="1714500" y="5537200"/>
            <a:ext cx="9652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C4D8E5"/>
                </a:solidFill>
                <a:latin typeface="Aptos" panose="020B0004020202020204" pitchFamily="34" charset="0"/>
              </a:rPr>
              <a:t>Shards, caché, límites, barridos, DLQ, circuit breakers y alarmas acotan los riesgos.</a:t>
            </a:r>
            <a:endParaRPr lang="es-CO" sz="1600">
              <a:solidFill>
                <a:srgbClr val="C4D8E5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117015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1132</Words>
  <Application>Microsoft Office PowerPoint</Application>
  <PresentationFormat>Panorámica</PresentationFormat>
  <Paragraphs>142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Torres</dc:creator>
  <cp:lastModifiedBy>John Torres</cp:lastModifiedBy>
  <cp:revision>1</cp:revision>
  <dcterms:created xsi:type="dcterms:W3CDTF">2026-10-05T03:20:38Z</dcterms:created>
  <dcterms:modified xsi:type="dcterms:W3CDTF">2026-10-05T03:28:33Z</dcterms:modified>
</cp:coreProperties>
</file>